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 i="0">
                <a:solidFill>
                  <a:srgbClr val="102D38"/>
                </a:solidFill>
                <a:latin typeface="Aptos"/>
              </a:rPr>
              <a:t>Animal classification | Data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98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536871"/>
                </a:solidFill>
                <a:latin typeface="Aptos"/>
              </a:rPr>
              <a:t>A concise overview of composition, coverage, and analytical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 i="0">
                <a:solidFill>
                  <a:srgbClr val="536871"/>
                </a:solidFill>
                <a:latin typeface="Aptos"/>
              </a:rPr>
              <a:t>SOURCE: Uploaded notebook • Saved outputs; source CSV not supplied • Record-level 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3825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 i="0">
                <a:solidFill>
                  <a:srgbClr val="007F8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600" b="1" i="0">
                <a:solidFill>
                  <a:srgbClr val="102D38"/>
                </a:solidFill>
                <a:latin typeface="Aptos"/>
              </a:rPr>
              <a:t>A mammal-heavy catalog with</a:t>
            </a:r>
          </a:p>
          <a:p>
            <a:pPr>
              <a:spcAft>
                <a:spcPts val="1000"/>
              </a:spcAft>
            </a:pPr>
            <a:r>
              <a:rPr sz="3600" b="1" i="0">
                <a:solidFill>
                  <a:srgbClr val="102D38"/>
                </a:solidFill>
                <a:latin typeface="Aptos"/>
              </a:rPr>
              <a:t>strong core taxonomy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6766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300" b="0" i="0">
                <a:solidFill>
                  <a:srgbClr val="536871"/>
                </a:solidFill>
                <a:latin typeface="Aptos"/>
              </a:rPr>
              <a:t>This summary describes the records in the notebook—not global animal diversity or population abundance.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103120"/>
            <a:ext cx="3200400" cy="1325880"/>
          </a:xfrm>
          <a:prstGeom prst="rect">
            <a:avLst/>
          </a:prstGeom>
          <a:solidFill>
            <a:srgbClr val="E9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267712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 i="0">
                <a:solidFill>
                  <a:srgbClr val="007F82"/>
                </a:solidFill>
                <a:latin typeface="Aptos"/>
              </a:rPr>
              <a:t>1,349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93522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02D38"/>
                </a:solidFill>
                <a:latin typeface="Aptos"/>
              </a:rPr>
              <a:t>animal records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3703320"/>
            <a:ext cx="3200400" cy="1325880"/>
          </a:xfrm>
          <a:prstGeom prst="rect">
            <a:avLst/>
          </a:prstGeom>
          <a:solidFill>
            <a:srgbClr val="E9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3867911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 i="0">
                <a:solidFill>
                  <a:srgbClr val="007F82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53542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02D38"/>
                </a:solidFill>
                <a:latin typeface="Aptos"/>
              </a:rPr>
              <a:t>recorded classes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 i="0">
                <a:solidFill>
                  <a:srgbClr val="102D38"/>
                </a:solidFill>
                <a:latin typeface="Aptos"/>
              </a:rPr>
              <a:t>01 | Dataset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98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536871"/>
                </a:solidFill>
                <a:latin typeface="Aptos"/>
              </a:rPr>
              <a:t>Taxonomy-focused, primarily categorical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 i="0">
                <a:solidFill>
                  <a:srgbClr val="536871"/>
                </a:solidFill>
                <a:latin typeface="Aptos"/>
              </a:rPr>
              <a:t>SOURCE: Uploaded notebook • Saved outputs; source CSV not supplied • Record-level 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3825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 i="0">
                <a:solidFill>
                  <a:srgbClr val="007F82"/>
                </a:solidFill>
                <a:latin typeface="Aptos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2286000" cy="1325880"/>
          </a:xfrm>
          <a:prstGeom prst="rect">
            <a:avLst/>
          </a:prstGeom>
          <a:solidFill>
            <a:srgbClr val="E9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3055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 i="0">
                <a:solidFill>
                  <a:srgbClr val="007F82"/>
                </a:solidFill>
                <a:latin typeface="Aptos"/>
              </a:rPr>
              <a:t>1,349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79806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02D38"/>
                </a:solidFill>
                <a:latin typeface="Aptos"/>
              </a:rPr>
              <a:t>records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1965960"/>
            <a:ext cx="2286000" cy="1325880"/>
          </a:xfrm>
          <a:prstGeom prst="rect">
            <a:avLst/>
          </a:prstGeom>
          <a:solidFill>
            <a:srgbClr val="E9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13055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 i="0">
                <a:solidFill>
                  <a:srgbClr val="007F82"/>
                </a:solidFill>
                <a:latin typeface="Aptos"/>
              </a:rPr>
              <a:t>1,226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79806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02D38"/>
                </a:solidFill>
                <a:latin typeface="Aptos"/>
              </a:rPr>
              <a:t>distinct animal names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965960"/>
            <a:ext cx="2286000" cy="1325880"/>
          </a:xfrm>
          <a:prstGeom prst="rect">
            <a:avLst/>
          </a:prstGeom>
          <a:solidFill>
            <a:srgbClr val="E9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13055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 i="0">
                <a:solidFill>
                  <a:srgbClr val="007F82"/>
                </a:solidFill>
                <a:latin typeface="Aptos"/>
              </a:rPr>
              <a:t>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79806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02D38"/>
                </a:solidFill>
                <a:latin typeface="Aptos"/>
              </a:rPr>
              <a:t>distinct orders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81160" y="1965960"/>
            <a:ext cx="2286000" cy="1325880"/>
          </a:xfrm>
          <a:prstGeom prst="rect">
            <a:avLst/>
          </a:prstGeom>
          <a:solidFill>
            <a:srgbClr val="E9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213055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 i="0">
                <a:solidFill>
                  <a:srgbClr val="007F82"/>
                </a:solidFill>
                <a:latin typeface="Aptos"/>
              </a:rPr>
              <a:t>210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279806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02D38"/>
                </a:solidFill>
                <a:latin typeface="Aptos"/>
              </a:rPr>
              <a:t>distinct families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0332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 i="0">
                <a:solidFill>
                  <a:srgbClr val="102D38"/>
                </a:solidFill>
                <a:latin typeface="Aptos"/>
              </a:rPr>
              <a:t>• 19 columns: 18 descriptive fields plus an exported row index.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102D38"/>
                </a:solidFill>
                <a:latin typeface="Aptos"/>
              </a:rPr>
              <a:t>• All records report Kingdom = Animalia and Phylum = Chordata.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102D38"/>
                </a:solidFill>
                <a:latin typeface="Aptos"/>
              </a:rPr>
              <a:t>• 696 distinct non-missing genera are reported.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5532120"/>
            <a:ext cx="10972800" cy="594360"/>
          </a:xfrm>
          <a:prstGeom prst="rect">
            <a:avLst/>
          </a:prstGeom>
          <a:solidFill>
            <a:srgbClr val="E9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02D38"/>
                </a:solidFill>
                <a:latin typeface="Aptos"/>
              </a:rPr>
              <a:t>Counts are notebook-reported; the complete row-level dataset could not be re-audited.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 i="0">
                <a:solidFill>
                  <a:srgbClr val="102D38"/>
                </a:solidFill>
                <a:latin typeface="Aptos"/>
              </a:rPr>
              <a:t>02 | Mammalia accounts for 60.4% of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98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536871"/>
                </a:solidFill>
                <a:latin typeface="Aptos"/>
              </a:rPr>
              <a:t>Class distribution • Shares recalculated from saved 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 i="0">
                <a:solidFill>
                  <a:srgbClr val="536871"/>
                </a:solidFill>
                <a:latin typeface="Aptos"/>
              </a:rPr>
              <a:t>SOURCE: Uploaded notebook • Saved outputs; source CSV not supplied • Record-level 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3825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 i="0">
                <a:solidFill>
                  <a:srgbClr val="007F82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300" b="1" i="0">
                <a:solidFill>
                  <a:srgbClr val="102D38"/>
                </a:solidFill>
                <a:latin typeface="Aptos"/>
              </a:rPr>
              <a:t>Mammalia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2194560"/>
            <a:ext cx="6858000" cy="393192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0" y="21488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 i="0">
                <a:solidFill>
                  <a:srgbClr val="102D38"/>
                </a:solidFill>
                <a:latin typeface="Aptos"/>
              </a:rPr>
              <a:t>815  |  60.4%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300" b="1" i="0">
                <a:solidFill>
                  <a:srgbClr val="102D38"/>
                </a:solidFill>
                <a:latin typeface="Aptos"/>
              </a:rPr>
              <a:t>Aves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3154680"/>
            <a:ext cx="2760029" cy="393192"/>
          </a:xfrm>
          <a:prstGeom prst="rect">
            <a:avLst/>
          </a:prstGeom>
          <a:solidFill>
            <a:srgbClr val="102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0" y="31089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 i="0">
                <a:solidFill>
                  <a:srgbClr val="102D38"/>
                </a:solidFill>
                <a:latin typeface="Aptos"/>
              </a:rPr>
              <a:t>328  |  24.3%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690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300" b="1" i="0">
                <a:solidFill>
                  <a:srgbClr val="102D38"/>
                </a:solidFill>
                <a:latin typeface="Aptos"/>
              </a:rPr>
              <a:t>Reptilia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4114800"/>
            <a:ext cx="1733433" cy="393192"/>
          </a:xfrm>
          <a:prstGeom prst="rect">
            <a:avLst/>
          </a:prstGeom>
          <a:solidFill>
            <a:srgbClr val="D97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4069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 i="0">
                <a:solidFill>
                  <a:srgbClr val="102D38"/>
                </a:solidFill>
                <a:latin typeface="Aptos"/>
              </a:rPr>
              <a:t>206  |  15.3%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5074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536871"/>
                </a:solidFill>
                <a:latin typeface="Aptos"/>
              </a:rPr>
              <a:t>Bar length represents the number of records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5532120"/>
            <a:ext cx="10972800" cy="594360"/>
          </a:xfrm>
          <a:prstGeom prst="rect">
            <a:avLst/>
          </a:prstGeom>
          <a:solidFill>
            <a:srgbClr val="E9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02D38"/>
                </a:solidFill>
                <a:latin typeface="Aptos"/>
              </a:rPr>
              <a:t>Class imbalance matters for comparisons and predictive-model baselines.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 i="0">
                <a:solidFill>
                  <a:srgbClr val="102D38"/>
                </a:solidFill>
                <a:latin typeface="Aptos"/>
              </a:rPr>
              <a:t>03 | Top 10 families represent 31.2% of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98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536871"/>
                </a:solidFill>
                <a:latin typeface="Aptos"/>
              </a:rPr>
              <a:t>Bovidae is the largest family: 69 records, or 5.1% of the catalog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 i="0">
                <a:solidFill>
                  <a:srgbClr val="536871"/>
                </a:solidFill>
                <a:latin typeface="Aptos"/>
              </a:rPr>
              <a:t>SOURCE: Uploaded notebook • Saved outputs; source CSV not supplied • Record-level 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3825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 i="0">
                <a:solidFill>
                  <a:srgbClr val="007F82"/>
                </a:solidFill>
                <a:latin typeface="Apto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02D38"/>
                </a:solidFill>
                <a:latin typeface="Aptos"/>
              </a:rPr>
              <a:t>Bovidae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901952"/>
            <a:ext cx="5212080" cy="18288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84708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102D38"/>
                </a:solidFill>
                <a:latin typeface="Aptos"/>
              </a:rPr>
              <a:t>69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717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02D38"/>
                </a:solidFill>
                <a:latin typeface="Aptos"/>
              </a:rPr>
              <a:t>Sciuridae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2226564"/>
            <a:ext cx="4456706" cy="182880"/>
          </a:xfrm>
          <a:prstGeom prst="rect">
            <a:avLst/>
          </a:prstGeom>
          <a:solidFill>
            <a:srgbClr val="102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217170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102D38"/>
                </a:solidFill>
                <a:latin typeface="Aptos"/>
              </a:rPr>
              <a:t>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49631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02D38"/>
                </a:solidFill>
                <a:latin typeface="Aptos"/>
              </a:rPr>
              <a:t>Cercopithecidae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2551176"/>
            <a:ext cx="4003481" cy="182880"/>
          </a:xfrm>
          <a:prstGeom prst="rect">
            <a:avLst/>
          </a:prstGeom>
          <a:solidFill>
            <a:srgbClr val="102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249631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102D38"/>
                </a:solidFill>
                <a:latin typeface="Aptos"/>
              </a:rPr>
              <a:t>53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82092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02D38"/>
                </a:solidFill>
                <a:latin typeface="Aptos"/>
              </a:rPr>
              <a:t>Canidae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0440" y="2875788"/>
            <a:ext cx="3248107" cy="182880"/>
          </a:xfrm>
          <a:prstGeom prst="rect">
            <a:avLst/>
          </a:prstGeom>
          <a:solidFill>
            <a:srgbClr val="102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282092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102D38"/>
                </a:solidFill>
                <a:latin typeface="Aptos"/>
              </a:rPr>
              <a:t>43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14553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02D38"/>
                </a:solidFill>
                <a:latin typeface="Aptos"/>
              </a:rPr>
              <a:t>Felidae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3200400"/>
            <a:ext cx="2719346" cy="182880"/>
          </a:xfrm>
          <a:prstGeom prst="rect">
            <a:avLst/>
          </a:prstGeom>
          <a:solidFill>
            <a:srgbClr val="102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314553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102D38"/>
                </a:solidFill>
                <a:latin typeface="Aptos"/>
              </a:rPr>
              <a:t>36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47014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02D38"/>
                </a:solidFill>
                <a:latin typeface="Aptos"/>
              </a:rPr>
              <a:t>Mustelidae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3525012"/>
            <a:ext cx="2643808" cy="182880"/>
          </a:xfrm>
          <a:prstGeom prst="rect">
            <a:avLst/>
          </a:prstGeom>
          <a:solidFill>
            <a:srgbClr val="102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0" y="347014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102D38"/>
                </a:solidFill>
                <a:latin typeface="Aptos"/>
              </a:rPr>
              <a:t>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7947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02D38"/>
                </a:solidFill>
                <a:latin typeface="Aptos"/>
              </a:rPr>
              <a:t>Accipitridae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3849624"/>
            <a:ext cx="2643808" cy="182880"/>
          </a:xfrm>
          <a:prstGeom prst="rect">
            <a:avLst/>
          </a:prstGeom>
          <a:solidFill>
            <a:srgbClr val="102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37947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102D38"/>
                </a:solidFill>
                <a:latin typeface="Aptos"/>
              </a:rPr>
              <a:t>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1193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02D38"/>
                </a:solidFill>
                <a:latin typeface="Aptos"/>
              </a:rPr>
              <a:t>Anatidae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20440" y="4174235"/>
            <a:ext cx="2568271" cy="182880"/>
          </a:xfrm>
          <a:prstGeom prst="rect">
            <a:avLst/>
          </a:prstGeom>
          <a:solidFill>
            <a:srgbClr val="102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0" y="411937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102D38"/>
                </a:solidFill>
                <a:latin typeface="Aptos"/>
              </a:rPr>
              <a:t>34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443983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02D38"/>
                </a:solidFill>
                <a:latin typeface="Aptos"/>
              </a:rPr>
              <a:t>Testudinidae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4498847"/>
            <a:ext cx="2190584" cy="182880"/>
          </a:xfrm>
          <a:prstGeom prst="rect">
            <a:avLst/>
          </a:prstGeom>
          <a:solidFill>
            <a:srgbClr val="102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0" y="4443983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102D38"/>
                </a:solidFill>
                <a:latin typeface="Aptos"/>
              </a:rPr>
              <a:t>29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76859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02D38"/>
                </a:solidFill>
                <a:latin typeface="Aptos"/>
              </a:rPr>
              <a:t>Cervidae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20440" y="4823459"/>
            <a:ext cx="2115046" cy="182880"/>
          </a:xfrm>
          <a:prstGeom prst="rect">
            <a:avLst/>
          </a:prstGeom>
          <a:solidFill>
            <a:srgbClr val="102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0" y="476859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102D38"/>
                </a:solidFill>
                <a:latin typeface="Aptos"/>
              </a:rPr>
              <a:t>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8360" y="2331720"/>
            <a:ext cx="1828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1" i="0">
                <a:solidFill>
                  <a:srgbClr val="007F82"/>
                </a:solidFill>
                <a:latin typeface="Aptos"/>
              </a:rPr>
              <a:t>421</a:t>
            </a:r>
          </a:p>
          <a:p>
            <a:pPr>
              <a:spcAft>
                <a:spcPts val="1000"/>
              </a:spcAft>
            </a:pPr>
            <a:r>
              <a:rPr sz="2100" b="1" i="0">
                <a:solidFill>
                  <a:srgbClr val="007F82"/>
                </a:solidFill>
                <a:latin typeface="Aptos"/>
              </a:rPr>
              <a:t>records in the</a:t>
            </a:r>
          </a:p>
          <a:p>
            <a:pPr>
              <a:spcAft>
                <a:spcPts val="1000"/>
              </a:spcAft>
            </a:pPr>
            <a:r>
              <a:rPr sz="2100" b="1" i="0">
                <a:solidFill>
                  <a:srgbClr val="007F82"/>
                </a:solidFill>
                <a:latin typeface="Aptos"/>
              </a:rPr>
              <a:t>top 10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</a:pPr>
            <a:r>
              <a:rPr sz="2100" b="1" i="0">
                <a:solidFill>
                  <a:srgbClr val="007F82"/>
                </a:solidFill>
                <a:latin typeface="Aptos"/>
              </a:rPr>
              <a:t>928</a:t>
            </a:r>
          </a:p>
          <a:p>
            <a:pPr>
              <a:spcAft>
                <a:spcPts val="1000"/>
              </a:spcAft>
            </a:pPr>
            <a:r>
              <a:rPr sz="2100" b="1" i="0">
                <a:solidFill>
                  <a:srgbClr val="007F82"/>
                </a:solidFill>
                <a:latin typeface="Aptos"/>
              </a:rPr>
              <a:t>in other families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5532120"/>
            <a:ext cx="10972800" cy="594360"/>
          </a:xfrm>
          <a:prstGeom prst="rect">
            <a:avLst/>
          </a:prstGeom>
          <a:solidFill>
            <a:srgbClr val="E9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02D38"/>
                </a:solidFill>
                <a:latin typeface="Aptos"/>
              </a:rPr>
              <a:t>The other 200 families collectively account for 68.8% of records.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 i="0">
                <a:solidFill>
                  <a:srgbClr val="102D38"/>
                </a:solidFill>
                <a:latin typeface="Aptos"/>
              </a:rPr>
              <a:t>04 | Core fields are complete; finer ranks are sparse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98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536871"/>
                </a:solidFill>
                <a:latin typeface="Aptos"/>
              </a:rPr>
              <a:t>Non-missing values as a share of 1,349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 i="0">
                <a:solidFill>
                  <a:srgbClr val="536871"/>
                </a:solidFill>
                <a:latin typeface="Aptos"/>
              </a:rPr>
              <a:t>SOURCE: Uploaded notebook • Saved outputs; source CSV not supplied • Record-level 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3825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 i="0">
                <a:solidFill>
                  <a:srgbClr val="007F82"/>
                </a:solidFill>
                <a:latin typeface="Apto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4023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02D38"/>
                </a:solidFill>
                <a:latin typeface="Aptos"/>
              </a:rPr>
              <a:t>Name / Class / Order / Family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911095"/>
            <a:ext cx="4800600" cy="182880"/>
          </a:xfrm>
          <a:prstGeom prst="rect">
            <a:avLst/>
          </a:prstGeom>
          <a:solidFill>
            <a:srgbClr val="E9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911095"/>
            <a:ext cx="4800600" cy="18288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0" y="1847088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102D38"/>
                </a:solidFill>
                <a:latin typeface="Aptos"/>
              </a:rPr>
              <a:t>100.0%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12848"/>
            <a:ext cx="4023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02D38"/>
                </a:solidFill>
                <a:latin typeface="Aptos"/>
              </a:rPr>
              <a:t>Genus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2276856"/>
            <a:ext cx="4800600" cy="182880"/>
          </a:xfrm>
          <a:prstGeom prst="rect">
            <a:avLst/>
          </a:prstGeom>
          <a:solidFill>
            <a:srgbClr val="E9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0" y="2276856"/>
            <a:ext cx="4786365" cy="18288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12848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102D38"/>
                </a:solidFill>
                <a:latin typeface="Aptos"/>
              </a:rPr>
              <a:t>99.7%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578608"/>
            <a:ext cx="4023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02D38"/>
                </a:solidFill>
                <a:latin typeface="Aptos"/>
              </a:rPr>
              <a:t>Subphylum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2642616"/>
            <a:ext cx="4800600" cy="182880"/>
          </a:xfrm>
          <a:prstGeom prst="rect">
            <a:avLst/>
          </a:prstGeom>
          <a:solidFill>
            <a:srgbClr val="E9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2642616"/>
            <a:ext cx="3633367" cy="18288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2578608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102D38"/>
                </a:solidFill>
                <a:latin typeface="Aptos"/>
              </a:rPr>
              <a:t>75.7%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944368"/>
            <a:ext cx="4023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02D38"/>
                </a:solidFill>
                <a:latin typeface="Aptos"/>
              </a:rPr>
              <a:t>Suborder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3008376"/>
            <a:ext cx="4800600" cy="182880"/>
          </a:xfrm>
          <a:prstGeom prst="rect">
            <a:avLst/>
          </a:prstGeom>
          <a:solidFill>
            <a:srgbClr val="E9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0" y="3008376"/>
            <a:ext cx="1697469" cy="18288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2944368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102D38"/>
                </a:solidFill>
                <a:latin typeface="Aptos"/>
              </a:rPr>
              <a:t>35.4%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310128"/>
            <a:ext cx="4023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02D38"/>
                </a:solidFill>
                <a:latin typeface="Aptos"/>
              </a:rPr>
              <a:t>Subfamily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3374136"/>
            <a:ext cx="4800600" cy="182880"/>
          </a:xfrm>
          <a:prstGeom prst="rect">
            <a:avLst/>
          </a:prstGeom>
          <a:solidFill>
            <a:srgbClr val="E9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54880" y="3374136"/>
            <a:ext cx="950155" cy="18288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3310128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102D38"/>
                </a:solidFill>
                <a:latin typeface="Aptos"/>
              </a:rPr>
              <a:t>19.8%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675887"/>
            <a:ext cx="4023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02D38"/>
                </a:solidFill>
                <a:latin typeface="Aptos"/>
              </a:rPr>
              <a:t>Infraorder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3739896"/>
            <a:ext cx="4800600" cy="182880"/>
          </a:xfrm>
          <a:prstGeom prst="rect">
            <a:avLst/>
          </a:prstGeom>
          <a:solidFill>
            <a:srgbClr val="E9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54880" y="3739896"/>
            <a:ext cx="487533" cy="18288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0" y="3675887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102D38"/>
                </a:solidFill>
                <a:latin typeface="Aptos"/>
              </a:rPr>
              <a:t>10.2%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041648"/>
            <a:ext cx="4023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02D38"/>
                </a:solidFill>
                <a:latin typeface="Aptos"/>
              </a:rPr>
              <a:t>Infraclass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4105656"/>
            <a:ext cx="4800600" cy="182880"/>
          </a:xfrm>
          <a:prstGeom prst="rect">
            <a:avLst/>
          </a:prstGeom>
          <a:solidFill>
            <a:srgbClr val="E9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754880" y="4105656"/>
            <a:ext cx="473298" cy="18288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4041648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102D38"/>
                </a:solidFill>
                <a:latin typeface="Aptos"/>
              </a:rPr>
              <a:t>9.9%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407408"/>
            <a:ext cx="4023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02D38"/>
                </a:solidFill>
                <a:latin typeface="Aptos"/>
              </a:rPr>
              <a:t>Subclass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54880" y="4471416"/>
            <a:ext cx="4800600" cy="182880"/>
          </a:xfrm>
          <a:prstGeom prst="rect">
            <a:avLst/>
          </a:prstGeom>
          <a:solidFill>
            <a:srgbClr val="E9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54880" y="4471416"/>
            <a:ext cx="220635" cy="18288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0" y="4407408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102D38"/>
                </a:solidFill>
                <a:latin typeface="Aptos"/>
              </a:rPr>
              <a:t>4.6%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773168"/>
            <a:ext cx="4023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02D38"/>
                </a:solidFill>
                <a:latin typeface="Aptos"/>
              </a:rPr>
              <a:t>Subgenus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54880" y="4837176"/>
            <a:ext cx="4800600" cy="182880"/>
          </a:xfrm>
          <a:prstGeom prst="rect">
            <a:avLst/>
          </a:prstGeom>
          <a:solidFill>
            <a:srgbClr val="E9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754880" y="4837176"/>
            <a:ext cx="64055" cy="18288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84080" y="4773168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102D38"/>
                </a:solidFill>
                <a:latin typeface="Aptos"/>
              </a:rPr>
              <a:t>1.3%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5532120"/>
            <a:ext cx="10972800" cy="594360"/>
          </a:xfrm>
          <a:prstGeom prst="rect">
            <a:avLst/>
          </a:prstGeom>
          <a:solidFill>
            <a:srgbClr val="E9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02D38"/>
                </a:solidFill>
                <a:latin typeface="Aptos"/>
              </a:rPr>
              <a:t>12,533 missing cells across 18 descriptive fields (51.6%); some ranks may be inapplicable.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 i="0">
                <a:solidFill>
                  <a:srgbClr val="102D38"/>
                </a:solidFill>
                <a:latin typeface="Aptos"/>
              </a:rPr>
              <a:t>05 | Repeated names need a targeted quality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98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536871"/>
                </a:solidFill>
                <a:latin typeface="Aptos"/>
              </a:rPr>
              <a:t>A zero full-row duplicate count does not establish unique animal entries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 i="0">
                <a:solidFill>
                  <a:srgbClr val="536871"/>
                </a:solidFill>
                <a:latin typeface="Aptos"/>
              </a:rPr>
              <a:t>SOURCE: Uploaded notebook • Saved outputs; source CSV not supplied • Record-level 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3825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 i="0">
                <a:solidFill>
                  <a:srgbClr val="007F82"/>
                </a:solidFill>
                <a:latin typeface="Aptos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3291840" cy="1325880"/>
          </a:xfrm>
          <a:prstGeom prst="rect">
            <a:avLst/>
          </a:prstGeom>
          <a:solidFill>
            <a:srgbClr val="E9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 i="0">
                <a:solidFill>
                  <a:srgbClr val="007F82"/>
                </a:solidFill>
                <a:latin typeface="Aptos"/>
              </a:rPr>
              <a:t>1,226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5234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02D38"/>
                </a:solidFill>
                <a:latin typeface="Aptos"/>
              </a:rPr>
              <a:t>distinct names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920240"/>
            <a:ext cx="3291840" cy="1325880"/>
          </a:xfrm>
          <a:prstGeom prst="rect">
            <a:avLst/>
          </a:prstGeom>
          <a:solidFill>
            <a:srgbClr val="E9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084832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 i="0">
                <a:solidFill>
                  <a:srgbClr val="007F82"/>
                </a:solidFill>
                <a:latin typeface="Aptos"/>
              </a:rPr>
              <a:t>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75234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02D38"/>
                </a:solidFill>
                <a:latin typeface="Aptos"/>
              </a:rPr>
              <a:t>records beyond distinct names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920240"/>
            <a:ext cx="3291840" cy="1325880"/>
          </a:xfrm>
          <a:prstGeom prst="rect">
            <a:avLst/>
          </a:prstGeom>
          <a:solidFill>
            <a:srgbClr val="E9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84832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 i="0">
                <a:solidFill>
                  <a:srgbClr val="007F82"/>
                </a:solidFill>
                <a:latin typeface="Aptos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5234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02D38"/>
                </a:solidFill>
                <a:latin typeface="Aptos"/>
              </a:rPr>
              <a:t>reported full-row duplicates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65760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 i="0">
                <a:solidFill>
                  <a:srgbClr val="102D38"/>
                </a:solidFill>
                <a:latin typeface="Aptos"/>
              </a:rPr>
              <a:t>• The exported row index can make otherwise identical rows appear distinct.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102D38"/>
                </a:solidFill>
                <a:latin typeface="Aptos"/>
              </a:rPr>
              <a:t>• Recheck duplicates after removing the index and normalizing names.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102D38"/>
                </a:solidFill>
                <a:latin typeface="Aptos"/>
              </a:rPr>
              <a:t>• Inspect repeated names before merging: they may have different taxonomy.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5532120"/>
            <a:ext cx="10972800" cy="594360"/>
          </a:xfrm>
          <a:prstGeom prst="rect">
            <a:avLst/>
          </a:prstGeom>
          <a:solidFill>
            <a:srgbClr val="E9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02D38"/>
                </a:solidFill>
                <a:latin typeface="Aptos"/>
              </a:rPr>
              <a:t>123 is the excess record count—not a verified count of erroneous records or repeated-name groups.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 i="0">
                <a:solidFill>
                  <a:srgbClr val="102D38"/>
                </a:solidFill>
                <a:latin typeface="Aptos"/>
              </a:rPr>
              <a:t>06 | Reported perfect accuracy requires caution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98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536871"/>
                </a:solidFill>
                <a:latin typeface="Aptos"/>
              </a:rPr>
              <a:t>Model scores summarize saved notebook outputs; models were not retrained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 i="0">
                <a:solidFill>
                  <a:srgbClr val="536871"/>
                </a:solidFill>
                <a:latin typeface="Aptos"/>
              </a:rPr>
              <a:t>SOURCE: Uploaded notebook • Saved outputs; source CSV not supplied • Record-level 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3825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 i="0">
                <a:solidFill>
                  <a:srgbClr val="007F82"/>
                </a:solidFill>
                <a:latin typeface="Aptos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 i="0">
                <a:solidFill>
                  <a:srgbClr val="102D38"/>
                </a:solidFill>
                <a:latin typeface="Aptos"/>
              </a:rPr>
              <a:t>Decision Tree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700" b="1" i="0">
                <a:solidFill>
                  <a:srgbClr val="007F82"/>
                </a:solidFill>
                <a:latin typeface="Aptos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 i="0">
                <a:solidFill>
                  <a:srgbClr val="102D38"/>
                </a:solidFill>
                <a:latin typeface="Aptos"/>
              </a:rPr>
              <a:t>Random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6060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700" b="1" i="0">
                <a:solidFill>
                  <a:srgbClr val="007F82"/>
                </a:solidFill>
                <a:latin typeface="Aptos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46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 i="0">
                <a:solidFill>
                  <a:srgbClr val="102D38"/>
                </a:solidFill>
                <a:latin typeface="Aptos"/>
              </a:rPr>
              <a:t>Logistic Regression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246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700" b="1" i="0">
                <a:solidFill>
                  <a:srgbClr val="007F82"/>
                </a:solidFill>
                <a:latin typeface="Aptos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96596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102D38"/>
                </a:solidFill>
                <a:latin typeface="Aptos"/>
              </a:rPr>
              <a:t>Held-out test: 270 records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102D38"/>
                </a:solidFill>
                <a:latin typeface="Aptos"/>
              </a:rPr>
              <a:t>Aves 66 • Mammalia 163 • Reptilia 41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102D38"/>
                </a:solidFill>
                <a:latin typeface="Aptos"/>
              </a:rPr>
              <a:t>Random Forest 5-fold CV: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102D38"/>
                </a:solidFill>
                <a:latin typeface="Aptos"/>
              </a:rPr>
              <a:t>100% in each fold (reported)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5196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 i="0">
                <a:solidFill>
                  <a:srgbClr val="102D38"/>
                </a:solidFill>
                <a:latin typeface="Aptos"/>
              </a:rPr>
              <a:t>Order, Family, and other taxonomy features encode class information. Repeated names may also overlap random splits. These scores do not establish generalization to unseen animals.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532120"/>
            <a:ext cx="10972800" cy="594360"/>
          </a:xfrm>
          <a:prstGeom prst="rect">
            <a:avLst/>
          </a:prstGeom>
          <a:solidFill>
            <a:srgbClr val="E9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02D38"/>
                </a:solidFill>
                <a:latin typeface="Aptos"/>
              </a:rPr>
              <a:t>No useful correlation result: the only numeric column is the row index (self-correlation = 1).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 i="0">
                <a:solidFill>
                  <a:srgbClr val="102D38"/>
                </a:solidFill>
                <a:latin typeface="Aptos"/>
              </a:rPr>
              <a:t>07 | Conclusions and recommended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98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536871"/>
                </a:solidFill>
                <a:latin typeface="Aptos"/>
              </a:rPr>
              <a:t>Prioritize a reproducible, quality-controlled descriptive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 i="0">
                <a:solidFill>
                  <a:srgbClr val="536871"/>
                </a:solidFill>
                <a:latin typeface="Aptos"/>
              </a:rPr>
              <a:t>SOURCE: Uploaded notebook • Saved outputs; source CSV not supplied • Record-level 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3825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 i="0">
                <a:solidFill>
                  <a:srgbClr val="007F82"/>
                </a:solidFill>
                <a:latin typeface="Aptos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938528"/>
            <a:ext cx="73152" cy="859536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3852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300" b="1" i="0">
                <a:solidFill>
                  <a:srgbClr val="007F82"/>
                </a:solidFill>
                <a:latin typeface="Aptos"/>
              </a:rPr>
              <a:t>1  Retain the key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6829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102D38"/>
                </a:solidFill>
                <a:latin typeface="Aptos"/>
              </a:rPr>
              <a:t>1,349 records; Mammalia leads at 60.4%; Bovidae is the largest family.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017520"/>
            <a:ext cx="73152" cy="859536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300" b="1" i="0">
                <a:solidFill>
                  <a:srgbClr val="007F82"/>
                </a:solidFill>
                <a:latin typeface="Aptos"/>
              </a:rPr>
              <a:t>2  Re-audit with the source 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47287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102D38"/>
                </a:solidFill>
                <a:latin typeface="Aptos"/>
              </a:rPr>
              <a:t>Remove the row index, review repeated names, and document missing-rank applicability.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096512"/>
            <a:ext cx="73152" cy="859536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965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300" b="1" i="0">
                <a:solidFill>
                  <a:srgbClr val="007F82"/>
                </a:solidFill>
                <a:latin typeface="Aptos"/>
              </a:rPr>
              <a:t>3  Validate the prediction 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262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102D38"/>
                </a:solidFill>
                <a:latin typeface="Aptos"/>
              </a:rPr>
              <a:t>Use genuinely available inputs; group splits by animal identity and test on external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5532120"/>
            <a:ext cx="10972800" cy="594360"/>
          </a:xfrm>
          <a:prstGeom prst="rect">
            <a:avLst/>
          </a:prstGeom>
          <a:solidFill>
            <a:srgbClr val="E9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02D38"/>
                </a:solidFill>
                <a:latin typeface="Aptos"/>
              </a:rPr>
              <a:t>Scope: catalog composition only—no geographic, temporal, abundance, or conservation-status conclusions.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Animal Classification Data Summary</dc:title>
  <dc:subject>Summary of uploaded notebook saved outputs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